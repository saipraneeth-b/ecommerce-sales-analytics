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embeddedFontLst>
    <p:embeddedFont>
      <p:font typeface="Overpass" panose="020B0604020202020204" charset="0"/>
      <p:regular r:id="rId10"/>
    </p:embeddedFont>
    <p:embeddedFont>
      <p:font typeface="Overpass Bold" panose="020B0604020202020204" charset="0"/>
      <p:bold r:id="rId11"/>
    </p:embeddedFont>
    <p:embeddedFont>
      <p:font typeface="Overpass Light" panose="020B0604020202020204" charset="0"/>
      <p:regular r:id="rId12"/>
    </p:embeddedFont>
    <p:embeddedFont>
      <p:font typeface="Syne" panose="020B0604020202020204" charset="0"/>
      <p:regular r:id="rId13"/>
    </p:embeddedFont>
    <p:embeddedFont>
      <p:font typeface="Syne Bold" panose="020B0604020202020204" charset="0"/>
      <p:bold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B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E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5042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E-Commerce Sales &amp; Customer Analytics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07853"/>
            <a:ext cx="10868745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Final Data Analytics Capstone Project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3014365"/>
            <a:ext cx="10868745" cy="1918494"/>
          </a:xfrm>
          <a:prstGeom prst="roundRect">
            <a:avLst>
              <a:gd name="adj" fmla="val 3621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020715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57887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0" y="952897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DDEEE6"/>
          </a:solidFill>
        </p:spPr>
      </p:sp>
      <p:sp>
        <p:nvSpPr>
          <p:cNvPr id="6" name="Text 4"/>
          <p:cNvSpPr/>
          <p:nvPr/>
        </p:nvSpPr>
        <p:spPr>
          <a:xfrm>
            <a:off x="833119" y="3186013"/>
            <a:ext cx="5097434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3543697"/>
            <a:ext cx="5097434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Saipraneeth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3020715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370136" y="0"/>
                </a:lnTo>
                <a:arcTo wR="57887" hR="57888" stAng="16200000" swAng="5400000"/>
                <a:lnTo>
                  <a:pt x="5428023" y="952897"/>
                </a:lnTo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DDEEE6"/>
          </a:solidFill>
        </p:spPr>
      </p:sp>
      <p:sp>
        <p:nvSpPr>
          <p:cNvPr id="9" name="Shape 7"/>
          <p:cNvSpPr/>
          <p:nvPr/>
        </p:nvSpPr>
        <p:spPr>
          <a:xfrm>
            <a:off x="6095848" y="3020715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3D4CC"/>
          </a:solidFill>
        </p:spPr>
      </p:sp>
      <p:sp>
        <p:nvSpPr>
          <p:cNvPr id="10" name="Text 8"/>
          <p:cNvSpPr/>
          <p:nvPr/>
        </p:nvSpPr>
        <p:spPr>
          <a:xfrm>
            <a:off x="6261142" y="3186013"/>
            <a:ext cx="5097434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1142" y="3543697"/>
            <a:ext cx="5097434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Superstore Sales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825" y="3973612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57887" y="952897"/>
                </a:lnTo>
                <a:arcTo wR="57887" hR="57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DDEEE6"/>
          </a:solidFill>
        </p:spPr>
      </p:sp>
      <p:sp>
        <p:nvSpPr>
          <p:cNvPr id="13" name="Shape 11"/>
          <p:cNvSpPr/>
          <p:nvPr/>
        </p:nvSpPr>
        <p:spPr>
          <a:xfrm>
            <a:off x="667825" y="3973612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3D4CC"/>
          </a:solidFill>
        </p:spPr>
      </p:sp>
      <p:sp>
        <p:nvSpPr>
          <p:cNvPr id="14" name="Text 12"/>
          <p:cNvSpPr/>
          <p:nvPr/>
        </p:nvSpPr>
        <p:spPr>
          <a:xfrm>
            <a:off x="833119" y="4138910"/>
            <a:ext cx="5097434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119" y="4496594"/>
            <a:ext cx="5097434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Python · Power BI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5848" y="3973612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895008"/>
                </a:lnTo>
                <a:arcTo wR="57887" hR="57888" stAng="0" swAng="5400000"/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DDEEE6"/>
          </a:solidFill>
        </p:spPr>
      </p:sp>
      <p:sp>
        <p:nvSpPr>
          <p:cNvPr id="17" name="Shape 15"/>
          <p:cNvSpPr/>
          <p:nvPr/>
        </p:nvSpPr>
        <p:spPr>
          <a:xfrm>
            <a:off x="6095848" y="3973612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3D4CC"/>
          </a:solidFill>
        </p:spPr>
      </p:sp>
      <p:sp>
        <p:nvSpPr>
          <p:cNvPr id="18" name="Shape 16"/>
          <p:cNvSpPr/>
          <p:nvPr/>
        </p:nvSpPr>
        <p:spPr>
          <a:xfrm>
            <a:off x="6095848" y="3973612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3D4CC"/>
          </a:solidFill>
        </p:spPr>
      </p:sp>
      <p:sp>
        <p:nvSpPr>
          <p:cNvPr id="19" name="Text 17"/>
          <p:cNvSpPr/>
          <p:nvPr/>
        </p:nvSpPr>
        <p:spPr>
          <a:xfrm>
            <a:off x="6261142" y="4138910"/>
            <a:ext cx="5097434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Records Analyzed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1142" y="4496594"/>
            <a:ext cx="5097434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9,994 Transactions</a:t>
            </a:r>
            <a:endParaRPr lang="en-US" sz="13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7C7D754-0FB9-CA28-7F05-AF2DA0378660}"/>
              </a:ext>
            </a:extLst>
          </p:cNvPr>
          <p:cNvSpPr/>
          <p:nvPr/>
        </p:nvSpPr>
        <p:spPr>
          <a:xfrm>
            <a:off x="10983310" y="6544098"/>
            <a:ext cx="1208690" cy="258465"/>
          </a:xfrm>
          <a:prstGeom prst="roundRect">
            <a:avLst/>
          </a:prstGeom>
          <a:solidFill>
            <a:srgbClr val="FFFD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5280"/>
            <a:ext cx="10868745" cy="3876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Overview &amp; 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905397"/>
            <a:ext cx="5841556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203748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7958" y="2226965"/>
            <a:ext cx="186031" cy="2325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33536" y="2246313"/>
            <a:ext cx="5469495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Sales Performance &amp; Profitability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536" y="2533055"/>
            <a:ext cx="5469495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Evaluate total and category-level sales revenue, margins, and profitability drivers across the Superstore dataset.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1475" y="3066355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7958" y="3089573"/>
            <a:ext cx="186031" cy="2325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33536" y="3108920"/>
            <a:ext cx="5469495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Category &amp; Regional Benchmarking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536" y="3395662"/>
            <a:ext cx="5469495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Identify high and low-performing product categories and geographic regions to prioritize investment and corrective action.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1475" y="3928963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958" y="3952180"/>
            <a:ext cx="186031" cy="2325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33536" y="3971528"/>
            <a:ext cx="5469495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Segment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536" y="4258270"/>
            <a:ext cx="5469495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Understand purchasing behavior, segment contribution, and retention patterns across Consumer, Corporate, and Home Office segments.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1475" y="4791571"/>
            <a:ext cx="279095" cy="279102"/>
          </a:xfrm>
          <a:prstGeom prst="roundRect">
            <a:avLst>
              <a:gd name="adj" fmla="val 1866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958" y="4814788"/>
            <a:ext cx="186031" cy="2325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33536" y="4834136"/>
            <a:ext cx="5469495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Actionable Recommendations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536" y="5120878"/>
            <a:ext cx="5469495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Translate analytical findings into concrete, data-driven business recommendations for leadership decision-making.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2696" y="1812429"/>
            <a:ext cx="4903070" cy="3760291"/>
          </a:xfrm>
          <a:prstGeom prst="roundRect">
            <a:avLst>
              <a:gd name="adj" fmla="val 2375"/>
            </a:avLst>
          </a:prstGeom>
          <a:solidFill>
            <a:srgbClr val="0066CC"/>
          </a:solidFill>
        </p:spPr>
      </p:sp>
      <p:sp>
        <p:nvSpPr>
          <p:cNvPr id="21" name="Text 19"/>
          <p:cNvSpPr/>
          <p:nvPr/>
        </p:nvSpPr>
        <p:spPr>
          <a:xfrm>
            <a:off x="6846716" y="1905397"/>
            <a:ext cx="4655029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46716" y="2192139"/>
            <a:ext cx="4655029" cy="5208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business needs a structured analytical framework to understand </a:t>
            </a:r>
            <a:r>
              <a:rPr lang="en-US" sz="9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sales performance, profitability, customer behavior, and regional dynamics</a:t>
            </a:r>
            <a:r>
              <a:rPr lang="en-US" sz="9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— enabling data-driven decisions that improve margins and drive sustainable growth.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6716" y="2848570"/>
            <a:ext cx="4655029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846716" y="2996803"/>
            <a:ext cx="4655029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46716" y="3295154"/>
            <a:ext cx="2280982" cy="907455"/>
          </a:xfrm>
          <a:prstGeom prst="roundRect">
            <a:avLst>
              <a:gd name="adj" fmla="val 5741"/>
            </a:avLst>
          </a:prstGeom>
          <a:solidFill>
            <a:srgbClr val="0066CC"/>
          </a:solidFill>
          <a:ln w="12700">
            <a:solidFill>
              <a:srgbClr val="C3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3436" y="3431877"/>
            <a:ext cx="2007542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Python Stack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83436" y="3718620"/>
            <a:ext cx="2007542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Pandas · NumPy · Matplotlib · Jupyter Notebook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220664" y="3295154"/>
            <a:ext cx="2281081" cy="907455"/>
          </a:xfrm>
          <a:prstGeom prst="roundRect">
            <a:avLst>
              <a:gd name="adj" fmla="val 5741"/>
            </a:avLst>
          </a:prstGeom>
          <a:solidFill>
            <a:srgbClr val="0066CC"/>
          </a:solidFill>
          <a:ln w="12700">
            <a:solidFill>
              <a:srgbClr val="C3D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7384" y="3431877"/>
            <a:ext cx="2007641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BI &amp; Version Control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57384" y="3718620"/>
            <a:ext cx="2007641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Power BI · Git · GitHub</a:t>
            </a:r>
            <a:endParaRPr lang="en-US" sz="95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08841FD-D51C-AD37-A9AB-98E56BEE149E}"/>
              </a:ext>
            </a:extLst>
          </p:cNvPr>
          <p:cNvSpPr/>
          <p:nvPr/>
        </p:nvSpPr>
        <p:spPr>
          <a:xfrm>
            <a:off x="11109434" y="6547945"/>
            <a:ext cx="998483" cy="3100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26AE50E-0A56-2EB5-F025-BD550B0D1904}"/>
              </a:ext>
            </a:extLst>
          </p:cNvPr>
          <p:cNvSpPr/>
          <p:nvPr/>
        </p:nvSpPr>
        <p:spPr>
          <a:xfrm>
            <a:off x="10919526" y="6493423"/>
            <a:ext cx="1208690" cy="363615"/>
          </a:xfrm>
          <a:prstGeom prst="roundRect">
            <a:avLst/>
          </a:prstGeom>
          <a:solidFill>
            <a:srgbClr val="FFFD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3325"/>
            <a:ext cx="10868745" cy="413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 &amp; Data Preparation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881287"/>
            <a:ext cx="415388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Superstore Sales 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6893" y="2273102"/>
            <a:ext cx="3323050" cy="4366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9,994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2855218"/>
            <a:ext cx="415388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167658"/>
            <a:ext cx="4153887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Total records analyzed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6893" y="3635871"/>
            <a:ext cx="3323050" cy="4366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61475" y="4217988"/>
            <a:ext cx="415388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Fields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530427"/>
            <a:ext cx="4153887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Sales, Profit, Discount, Region, Segment &amp; more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1475" y="4839990"/>
            <a:ext cx="4153887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Core fields: </a:t>
            </a:r>
            <a:r>
              <a:rPr lang="en-US" sz="10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Order Date, Customer, Segment, Region, Category, Sub-Category, Sales, Quantity, Discount, Profit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44363" y="1881287"/>
            <a:ext cx="639210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Cleaning Process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44363" y="2207022"/>
            <a:ext cx="264610" cy="1652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44363" y="2412702"/>
            <a:ext cx="3143171" cy="19050"/>
          </a:xfrm>
          <a:prstGeom prst="rect">
            <a:avLst/>
          </a:prstGeom>
          <a:solidFill>
            <a:srgbClr val="224435"/>
          </a:solidFill>
        </p:spPr>
      </p:sp>
      <p:sp>
        <p:nvSpPr>
          <p:cNvPr id="14" name="Text 12"/>
          <p:cNvSpPr/>
          <p:nvPr/>
        </p:nvSpPr>
        <p:spPr>
          <a:xfrm>
            <a:off x="5144363" y="2516882"/>
            <a:ext cx="3143171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Structural Inspection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44363" y="2829322"/>
            <a:ext cx="3143171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Reviewed dataset schema, column data types, and overall structure to establish a cleaning baseline.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93299" y="2207022"/>
            <a:ext cx="264610" cy="1652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93299" y="2412702"/>
            <a:ext cx="3143171" cy="19050"/>
          </a:xfrm>
          <a:prstGeom prst="rect">
            <a:avLst/>
          </a:prstGeom>
          <a:solidFill>
            <a:srgbClr val="224435"/>
          </a:solidFill>
        </p:spPr>
      </p:sp>
      <p:sp>
        <p:nvSpPr>
          <p:cNvPr id="18" name="Text 16"/>
          <p:cNvSpPr/>
          <p:nvPr/>
        </p:nvSpPr>
        <p:spPr>
          <a:xfrm>
            <a:off x="8393299" y="2516882"/>
            <a:ext cx="3143171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Quality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93299" y="2829322"/>
            <a:ext cx="3143171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Checked for missing values and duplicate records — </a:t>
            </a:r>
            <a:r>
              <a:rPr lang="en-US" sz="10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none found</a:t>
            </a: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confirming high dataset integrity.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44363" y="3415308"/>
            <a:ext cx="264610" cy="1652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44363" y="3620988"/>
            <a:ext cx="3143171" cy="19050"/>
          </a:xfrm>
          <a:prstGeom prst="rect">
            <a:avLst/>
          </a:prstGeom>
          <a:solidFill>
            <a:srgbClr val="224435"/>
          </a:solidFill>
        </p:spPr>
      </p:sp>
      <p:sp>
        <p:nvSpPr>
          <p:cNvPr id="22" name="Text 20"/>
          <p:cNvSpPr/>
          <p:nvPr/>
        </p:nvSpPr>
        <p:spPr>
          <a:xfrm>
            <a:off x="5144363" y="3725168"/>
            <a:ext cx="3143171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Type Conversion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44363" y="4037608"/>
            <a:ext cx="3143171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Converted </a:t>
            </a:r>
            <a:r>
              <a:rPr lang="en-US" sz="10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Order Date</a:t>
            </a: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r>
              <a:rPr lang="en-US" sz="10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Ship Date</a:t>
            </a: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columns to proper datetime format for time-series analysis.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93299" y="3415308"/>
            <a:ext cx="264610" cy="1652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93299" y="3620988"/>
            <a:ext cx="3143171" cy="19050"/>
          </a:xfrm>
          <a:prstGeom prst="rect">
            <a:avLst/>
          </a:prstGeom>
          <a:solidFill>
            <a:srgbClr val="224435"/>
          </a:solidFill>
        </p:spPr>
      </p:sp>
      <p:sp>
        <p:nvSpPr>
          <p:cNvPr id="26" name="Text 24"/>
          <p:cNvSpPr/>
          <p:nvPr/>
        </p:nvSpPr>
        <p:spPr>
          <a:xfrm>
            <a:off x="8393299" y="3725168"/>
            <a:ext cx="3143171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Column Optimization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93299" y="4037608"/>
            <a:ext cx="3143171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Removed the unnecessary </a:t>
            </a:r>
            <a:r>
              <a:rPr lang="en-US" sz="10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Row ID</a:t>
            </a: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column; validated ranges for Sales, Quantity, and Discount fields.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44363" y="4623594"/>
            <a:ext cx="264610" cy="1652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44363" y="4829274"/>
            <a:ext cx="6392107" cy="19050"/>
          </a:xfrm>
          <a:prstGeom prst="rect">
            <a:avLst/>
          </a:prstGeom>
          <a:solidFill>
            <a:srgbClr val="224435"/>
          </a:solidFill>
        </p:spPr>
      </p:sp>
      <p:sp>
        <p:nvSpPr>
          <p:cNvPr id="30" name="Text 28"/>
          <p:cNvSpPr/>
          <p:nvPr/>
        </p:nvSpPr>
        <p:spPr>
          <a:xfrm>
            <a:off x="5144363" y="4933454"/>
            <a:ext cx="6392107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Export Cleaned Dataset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44363" y="5245894"/>
            <a:ext cx="6392107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Prepared and saved the final cleaned dataset as input for all downstream analysis and visualization steps.</a:t>
            </a:r>
            <a:endParaRPr lang="en-US" sz="10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ED8D6A1-2CA4-1F10-870D-5D76D4199A7E}"/>
              </a:ext>
            </a:extLst>
          </p:cNvPr>
          <p:cNvSpPr/>
          <p:nvPr/>
        </p:nvSpPr>
        <p:spPr>
          <a:xfrm>
            <a:off x="11109434" y="6589986"/>
            <a:ext cx="1082566" cy="2489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8CA831A-A6E0-E067-4C3B-7453E2CBC268}"/>
              </a:ext>
            </a:extLst>
          </p:cNvPr>
          <p:cNvSpPr/>
          <p:nvPr/>
        </p:nvSpPr>
        <p:spPr>
          <a:xfrm>
            <a:off x="10983310" y="6493423"/>
            <a:ext cx="1208690" cy="363615"/>
          </a:xfrm>
          <a:prstGeom prst="roundRect">
            <a:avLst/>
          </a:prstGeom>
          <a:solidFill>
            <a:srgbClr val="FFFD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7226"/>
            <a:ext cx="10868745" cy="3876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Exploratory Data Analysis &amp; 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2077343"/>
            <a:ext cx="3607305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Analysis Performed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007" y="2379414"/>
            <a:ext cx="186031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4591" y="2375694"/>
            <a:ext cx="3204189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4591" y="2662436"/>
            <a:ext cx="3204189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Summary metrics across sales, profit, and discount distributions.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007" y="3199457"/>
            <a:ext cx="186031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4591" y="3195737"/>
            <a:ext cx="3204189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Category &amp; Regional Analysis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64591" y="3482479"/>
            <a:ext cx="3204189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Revenue and margin decomposition by product category and geographic region.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007" y="4019500"/>
            <a:ext cx="186031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4591" y="4015780"/>
            <a:ext cx="3204189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Segment Analysis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064591" y="4302522"/>
            <a:ext cx="3204189" cy="173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Segment-level contribution to revenue and profitability.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007" y="4665911"/>
            <a:ext cx="186031" cy="186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4591" y="4662190"/>
            <a:ext cx="3204189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Monthly Trends &amp; Correlation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064591" y="4948932"/>
            <a:ext cx="3204189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Time-series sales patterns and discount-to-profit correlation analysis.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577739" y="2077343"/>
            <a:ext cx="6958731" cy="1937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Findings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577739" y="2375694"/>
          <a:ext cx="6958732" cy="1818832"/>
        </p:xfrm>
        <a:graphic>
          <a:graphicData uri="http://schemas.openxmlformats.org/drawingml/2006/table">
            <a:tbl>
              <a:tblPr/>
              <a:tblGrid>
                <a:gridCol w="194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8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Dimension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Sales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Profit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Insight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Technology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$836,154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$145,455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Strongest category overall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Furniture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$742,000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$18,451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Profitability challenge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West Region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$725,458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$108,418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Top regional performer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South Region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$391,722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—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Lowest regional performance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Peak Month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$118,448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—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B4E4E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-120"/>
                        </a:rPr>
                        <a:t>November 2017 seasonal spike</a:t>
                      </a:r>
                      <a:endParaRPr lang="en-US" sz="950" dirty="0">
                        <a:latin typeface="Overpass" pitchFamily="34" charset="0"/>
                        <a:ea typeface="Overpass" pitchFamily="34" charset="0"/>
                        <a:cs typeface="Overpass" pitchFamily="34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Shape 11"/>
          <p:cNvSpPr/>
          <p:nvPr/>
        </p:nvSpPr>
        <p:spPr>
          <a:xfrm>
            <a:off x="4577739" y="4311848"/>
            <a:ext cx="6958731" cy="576461"/>
          </a:xfrm>
          <a:prstGeom prst="roundRect">
            <a:avLst>
              <a:gd name="adj" fmla="val 9038"/>
            </a:avLst>
          </a:prstGeom>
          <a:solidFill>
            <a:srgbClr val="FCF2B5"/>
          </a:solidFill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760" y="4441527"/>
            <a:ext cx="154976" cy="12402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80756" y="4426446"/>
            <a:ext cx="6431695" cy="3472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Discount Impact: A </a:t>
            </a:r>
            <a:r>
              <a:rPr lang="en-US" sz="95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–0.219 correlation</a:t>
            </a:r>
            <a:r>
              <a:rPr lang="en-US" sz="95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between discount rate and profit confirms that aggressive discounting materially erodes margins across all categories.</a:t>
            </a:r>
            <a:endParaRPr lang="en-US" sz="95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E2C278-4488-3E4C-87D4-3CC22E952F74}"/>
              </a:ext>
            </a:extLst>
          </p:cNvPr>
          <p:cNvSpPr/>
          <p:nvPr/>
        </p:nvSpPr>
        <p:spPr>
          <a:xfrm>
            <a:off x="11067393" y="6547945"/>
            <a:ext cx="1051035" cy="3100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106EA5-9CAE-BBA3-4BBF-F854356DBAA1}"/>
              </a:ext>
            </a:extLst>
          </p:cNvPr>
          <p:cNvSpPr/>
          <p:nvPr/>
        </p:nvSpPr>
        <p:spPr>
          <a:xfrm>
            <a:off x="10919526" y="6493423"/>
            <a:ext cx="1208690" cy="363615"/>
          </a:xfrm>
          <a:prstGeom prst="roundRect">
            <a:avLst/>
          </a:prstGeom>
          <a:solidFill>
            <a:srgbClr val="FFFD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7065"/>
            <a:ext cx="10868745" cy="3254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BI Sales Analytics Dashboard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976313"/>
            <a:ext cx="3082749" cy="1627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 KPIs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0914" y="1264741"/>
            <a:ext cx="2003772" cy="343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$2.30M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709539"/>
            <a:ext cx="3082749" cy="1627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00914" y="2055316"/>
            <a:ext cx="2003772" cy="343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$286K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1475" y="2500114"/>
            <a:ext cx="3082749" cy="1627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00914" y="2845891"/>
            <a:ext cx="2003772" cy="343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5K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61475" y="3290689"/>
            <a:ext cx="3082749" cy="1627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0914" y="3636466"/>
            <a:ext cx="2003772" cy="343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793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1475" y="4081264"/>
            <a:ext cx="3082749" cy="1627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1475" y="4343698"/>
            <a:ext cx="3082749" cy="12700"/>
          </a:xfrm>
          <a:prstGeom prst="roundRect">
            <a:avLst>
              <a:gd name="adj" fmla="val 49999"/>
            </a:avLst>
          </a:prstGeom>
          <a:solidFill>
            <a:srgbClr val="3B4E4E">
              <a:alpha val="5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61475" y="4456113"/>
            <a:ext cx="3082749" cy="1627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Visualizations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1475" y="4684316"/>
            <a:ext cx="3082749" cy="7703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Sales by Category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Profit by Region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Monthly Sales Trend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Sales by Customer Segment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Profit by Sub-Category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61475" y="5554365"/>
            <a:ext cx="3082749" cy="12700"/>
          </a:xfrm>
          <a:prstGeom prst="roundRect">
            <a:avLst>
              <a:gd name="adj" fmla="val 49999"/>
            </a:avLst>
          </a:prstGeom>
          <a:solidFill>
            <a:srgbClr val="3B4E4E">
              <a:alpha val="5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61475" y="5666780"/>
            <a:ext cx="3082749" cy="1627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Interactive Filters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1475" y="5894983"/>
            <a:ext cx="3082749" cy="4530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Region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Category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Order Date Range</a:t>
            </a:r>
            <a:endParaRPr lang="en-US" sz="8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310" y="984250"/>
            <a:ext cx="7320915" cy="5300345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617B504-27AC-5813-85FA-44DC4D9DF8FC}"/>
              </a:ext>
            </a:extLst>
          </p:cNvPr>
          <p:cNvSpPr/>
          <p:nvPr/>
        </p:nvSpPr>
        <p:spPr>
          <a:xfrm>
            <a:off x="11014841" y="6547945"/>
            <a:ext cx="1177159" cy="3100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BC37367-38D6-82F7-A5B8-3DEBF500E64C}"/>
              </a:ext>
            </a:extLst>
          </p:cNvPr>
          <p:cNvSpPr/>
          <p:nvPr/>
        </p:nvSpPr>
        <p:spPr>
          <a:xfrm>
            <a:off x="10999075" y="6493423"/>
            <a:ext cx="1208690" cy="363615"/>
          </a:xfrm>
          <a:prstGeom prst="roundRect">
            <a:avLst/>
          </a:prstGeom>
          <a:solidFill>
            <a:srgbClr val="FFFD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2812"/>
            <a:ext cx="10868745" cy="3359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Recommendations &amp; Conclusion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893391"/>
            <a:ext cx="5859812" cy="167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Strategic Recommendations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39851"/>
            <a:ext cx="5859812" cy="7618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5338" y="2419945"/>
            <a:ext cx="161226" cy="20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74026" y="2260005"/>
            <a:ext cx="5227110" cy="167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Fix Furniture Profitability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74026" y="2497733"/>
            <a:ext cx="5227110" cy="2837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Conduct a thorough review of product costs, pricing structures, and discount strategies in the Furniture category — $742K in sales generating only $18,451 in profit signals a structural margin problem.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71502"/>
            <a:ext cx="5859812" cy="7618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5338" y="3251597"/>
            <a:ext cx="161226" cy="20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74026" y="3091656"/>
            <a:ext cx="5227110" cy="167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Invest in the South Region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74026" y="3329384"/>
            <a:ext cx="5227110" cy="2837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Strengthen targeted marketing and sales initiatives in the South, which generated the lowest regional revenue at $391,722 — a clear opportunity for incremental growth.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03154"/>
            <a:ext cx="5859812" cy="7618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5338" y="4083248"/>
            <a:ext cx="161226" cy="20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174026" y="3923308"/>
            <a:ext cx="5227110" cy="167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Rationalize Discount Policies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174026" y="4161036"/>
            <a:ext cx="5227110" cy="2837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Implement data-driven discount guardrails. The –0.219 correlation between discount levels and profit confirms that blanket discounting undermines overall business performance.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34805"/>
            <a:ext cx="5859812" cy="7618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5338" y="4914900"/>
            <a:ext cx="161226" cy="20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174026" y="4754959"/>
            <a:ext cx="5227110" cy="167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Double Down on Technology &amp; Consumer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174026" y="4992687"/>
            <a:ext cx="5227110" cy="2837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Continue prioritizing Technology ($145K profit) and the Consumer segment as the primary engines of growth — protect and expand these high-performing areas.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6712377" y="1823541"/>
            <a:ext cx="4901482" cy="3651647"/>
          </a:xfrm>
          <a:prstGeom prst="roundRect">
            <a:avLst>
              <a:gd name="adj" fmla="val 2120"/>
            </a:avLst>
          </a:prstGeom>
          <a:solidFill>
            <a:srgbClr val="0066CC"/>
          </a:solidFill>
        </p:spPr>
      </p:sp>
      <p:sp>
        <p:nvSpPr>
          <p:cNvPr id="21" name="Text 15"/>
          <p:cNvSpPr/>
          <p:nvPr/>
        </p:nvSpPr>
        <p:spPr>
          <a:xfrm>
            <a:off x="6819829" y="1893391"/>
            <a:ext cx="4686580" cy="1678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819829" y="2131120"/>
            <a:ext cx="4686580" cy="4884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This capstone project demonstrates how </a:t>
            </a:r>
            <a:r>
              <a:rPr lang="en-US" sz="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Python and Power BI</a:t>
            </a:r>
            <a:r>
              <a:rPr lang="en-US" sz="80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can transform raw e-commerce transaction data into structured, actionable business intelligence.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Key analytical outcomes include: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6819829" y="2682379"/>
            <a:ext cx="4686580" cy="4744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Technology</a:t>
            </a:r>
            <a:r>
              <a:rPr lang="en-US" sz="80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the </a:t>
            </a:r>
            <a:r>
              <a:rPr lang="en-US" sz="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West Region</a:t>
            </a:r>
            <a:r>
              <a:rPr lang="en-US" sz="80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identified as the primary performance drivers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Furniture profitability</a:t>
            </a:r>
            <a:r>
              <a:rPr lang="en-US" sz="80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r>
              <a:rPr lang="en-US" sz="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South-region sales</a:t>
            </a:r>
            <a:r>
              <a:rPr lang="en-US" sz="80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flagged as priority improvement areas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Discount policy reform quantified as a direct lever for margin recovery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819829" y="3262213"/>
            <a:ext cx="4686580" cy="127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25" name="Text 19"/>
          <p:cNvSpPr/>
          <p:nvPr/>
        </p:nvSpPr>
        <p:spPr>
          <a:xfrm>
            <a:off x="6819829" y="3380284"/>
            <a:ext cx="5296164" cy="141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Thank You</a:t>
            </a:r>
            <a:r>
              <a:rPr lang="en-US" sz="80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— Questions welcome.</a:t>
            </a:r>
            <a:endParaRPr lang="en-US" sz="8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4558B74-8EC2-E8CD-84B5-2293EDCEBB1F}"/>
              </a:ext>
            </a:extLst>
          </p:cNvPr>
          <p:cNvSpPr/>
          <p:nvPr/>
        </p:nvSpPr>
        <p:spPr>
          <a:xfrm>
            <a:off x="11046372" y="6495393"/>
            <a:ext cx="1069621" cy="2988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A665C92-45F8-3BE4-1A9A-0CF6E1F99B1D}"/>
              </a:ext>
            </a:extLst>
          </p:cNvPr>
          <p:cNvSpPr/>
          <p:nvPr/>
        </p:nvSpPr>
        <p:spPr>
          <a:xfrm>
            <a:off x="10919526" y="6493423"/>
            <a:ext cx="1208690" cy="363615"/>
          </a:xfrm>
          <a:prstGeom prst="roundRect">
            <a:avLst/>
          </a:prstGeom>
          <a:solidFill>
            <a:srgbClr val="FFFD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70634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 </a:t>
            </a:r>
            <a:endParaRPr lang="en-US" sz="32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0A32FD-A706-61BF-2C01-DFD8E162FEAE}"/>
              </a:ext>
            </a:extLst>
          </p:cNvPr>
          <p:cNvSpPr/>
          <p:nvPr/>
        </p:nvSpPr>
        <p:spPr>
          <a:xfrm>
            <a:off x="11119945" y="6589986"/>
            <a:ext cx="998483" cy="189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15B2A3-C863-8A98-3CFA-D2A26734CEAF}"/>
              </a:ext>
            </a:extLst>
          </p:cNvPr>
          <p:cNvSpPr/>
          <p:nvPr/>
        </p:nvSpPr>
        <p:spPr>
          <a:xfrm>
            <a:off x="10919526" y="6493423"/>
            <a:ext cx="1208690" cy="363615"/>
          </a:xfrm>
          <a:prstGeom prst="roundRect">
            <a:avLst/>
          </a:prstGeom>
          <a:solidFill>
            <a:srgbClr val="FFFD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24435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24435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709</Words>
  <Application>Microsoft Office PowerPoint</Application>
  <PresentationFormat>Widescreen</PresentationFormat>
  <Paragraphs>141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Overpass</vt:lpstr>
      <vt:lpstr>Arial</vt:lpstr>
      <vt:lpstr>Syne Bold</vt:lpstr>
      <vt:lpstr>Calibri</vt:lpstr>
      <vt:lpstr>Overpass Light</vt:lpstr>
      <vt:lpstr>Overpass Bold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SAIPRANEETH BEJJANKI</cp:lastModifiedBy>
  <cp:revision>3</cp:revision>
  <dcterms:created xsi:type="dcterms:W3CDTF">2026-09-08T05:48:00Z</dcterms:created>
  <dcterms:modified xsi:type="dcterms:W3CDTF">2026-09-08T06:00:13Z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155671BD03FA4E4D9B6A8DDAD3853BC3_12</vt:lpwstr>
  </property>
  <property fmtid="{D5CDD505-2E9C-101B-9397-08002B2CF9AE}" pid="3" name="KSOProductBuildVer">
    <vt:lpwstr>1033-12.1.0.28485</vt:lpwstr>
  </property>
</Properties>
</file>